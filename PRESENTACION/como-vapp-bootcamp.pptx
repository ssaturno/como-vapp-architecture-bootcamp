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"/>
            <a:ext cx="141732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0" y="2286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Vapp en AWS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" y="2103120"/>
            <a:ext cx="34747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240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Microservicios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completo con EKS, Terraform y seguridad en capas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3886200"/>
            <a:ext cx="5029200" cy="82296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977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Samaris Saturno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Arquitectura de Nube · 2024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 ·  12 slides  ·  EKS + Terraform + Kubernetes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necesitábamos construir?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51760" cy="1828800"/>
          </a:xfrm>
          <a:prstGeom prst="rect">
            <a:avLst/>
          </a:prstGeom>
          <a:solidFill>
            <a:srgbClr val="162840"/>
          </a:solidFill>
          <a:ln w="25400">
            <a:solidFill>
              <a:srgbClr val="4A9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984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pedidos, consulta estado en tiempo real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72968" y="1234440"/>
            <a:ext cx="2651760" cy="1828800"/>
          </a:xfrm>
          <a:prstGeom prst="rect">
            <a:avLst/>
          </a:prstGeom>
          <a:solidFill>
            <a:srgbClr val="162840"/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12984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👨‍🍳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172968" y="18105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 / Admin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64408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pedidos y actualiza el estado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5896" y="1234440"/>
            <a:ext cx="2651760" cy="1828800"/>
          </a:xfrm>
          <a:prstGeom prst="rect">
            <a:avLst/>
          </a:prstGeom>
          <a:solidFill>
            <a:srgbClr val="162840"/>
          </a:solidFill>
          <a:ln w="25400">
            <a:solidFill>
              <a:srgbClr val="00D4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25896" y="12984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25896" y="18105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17336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al cliente de cada cambio de estado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8503920" cy="146304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10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clave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118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independientes → fallos aislados, despliegue autónomo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asíncrona → un servicio caído no bloquea a los demás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→ cada pedido registrado en DynamoDB con TTL y PITR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reproducible → terraform destroy + apply = mismo sistema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 completo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631936" cy="35844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521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10.0.0.0/16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1005840" cy="640080"/>
          </a:xfrm>
          <a:prstGeom prst="rect">
            <a:avLst/>
          </a:prstGeom>
          <a:solidFill>
            <a:srgbClr val="162840"/>
          </a:solidFill>
          <a:ln w="19050">
            <a:solidFill>
              <a:srgbClr val="4A9E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25880" y="1709928"/>
            <a:ext cx="457200" cy="0"/>
          </a:xfrm>
          <a:prstGeom prst="line">
            <a:avLst/>
          </a:prstGeom>
          <a:noFill/>
          <a:ln w="19050">
            <a:solidFill>
              <a:srgbClr val="00D4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1389888"/>
            <a:ext cx="960120" cy="640080"/>
          </a:xfrm>
          <a:prstGeom prst="rect">
            <a:avLst/>
          </a:prstGeom>
          <a:solidFill>
            <a:srgbClr val="162840"/>
          </a:solidFill>
          <a:ln w="19050">
            <a:solidFill>
              <a:srgbClr val="00D4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138988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0" y="1709928"/>
            <a:ext cx="411480" cy="0"/>
          </a:xfrm>
          <a:prstGeom prst="line">
            <a:avLst/>
          </a:prstGeom>
          <a:noFill/>
          <a:ln w="19050">
            <a:solidFill>
              <a:srgbClr val="4A9E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15361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9EE0"/>
                </a:solidFill>
              </a:rPr>
              <a:t>HTTPS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54680" y="1389888"/>
            <a:ext cx="960120" cy="640080"/>
          </a:xfrm>
          <a:prstGeom prst="rect">
            <a:avLst/>
          </a:prstGeom>
          <a:solidFill>
            <a:srgbClr val="162840"/>
          </a:solidFill>
          <a:ln w="19050">
            <a:solidFill>
              <a:srgbClr val="4A9E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38988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(WAF)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0" y="1709928"/>
            <a:ext cx="411480" cy="0"/>
          </a:xfrm>
          <a:prstGeom prst="line">
            <a:avLst/>
          </a:prstGeom>
          <a:noFill/>
          <a:ln w="19050">
            <a:solidFill>
              <a:srgbClr val="4A9E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78224" y="15361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9EE0"/>
                </a:solidFill>
              </a:rPr>
              <a:t>/orders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26280" y="1389888"/>
            <a:ext cx="1188720" cy="640080"/>
          </a:xfrm>
          <a:prstGeom prst="rect">
            <a:avLst/>
          </a:prstGeom>
          <a:solidFill>
            <a:srgbClr val="1E3A5F"/>
          </a:solidFill>
          <a:ln w="25400">
            <a:solidFill>
              <a:srgbClr val="4A9E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138988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orders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(.NET)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15000" y="1709928"/>
            <a:ext cx="41148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389888"/>
            <a:ext cx="1097280" cy="640080"/>
          </a:xfrm>
          <a:prstGeom prst="rect">
            <a:avLst/>
          </a:prstGeom>
          <a:solidFill>
            <a:srgbClr val="162840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3898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75120" y="2029968"/>
            <a:ext cx="0" cy="347472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20848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9900"/>
                </a:solidFill>
              </a:rPr>
              <a:t>Stream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26480" y="2377440"/>
            <a:ext cx="1097280" cy="594360"/>
          </a:xfrm>
          <a:prstGeom prst="rect">
            <a:avLst/>
          </a:prstGeom>
          <a:solidFill>
            <a:srgbClr val="1628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377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stream-proc.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0" y="2670048"/>
            <a:ext cx="109728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4871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</a:rPr>
              <a:t>publica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0" y="2377440"/>
            <a:ext cx="1097280" cy="594360"/>
          </a:xfrm>
          <a:prstGeom prst="rect">
            <a:avLst/>
          </a:prstGeom>
          <a:solidFill>
            <a:srgbClr val="162840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2377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651760" y="2670048"/>
            <a:ext cx="118872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24871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9900"/>
                </a:solidFill>
              </a:rPr>
              <a:t>consume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417320" y="2377440"/>
            <a:ext cx="1188720" cy="594360"/>
          </a:xfrm>
          <a:prstGeom prst="rect">
            <a:avLst/>
          </a:prstGeom>
          <a:solidFill>
            <a:srgbClr val="1E3A5F"/>
          </a:solidFill>
          <a:ln w="25400">
            <a:solidFill>
              <a:srgbClr val="00D4B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17320" y="2377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notif.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2670048"/>
            <a:ext cx="96012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2377440"/>
            <a:ext cx="640080" cy="594360"/>
          </a:xfrm>
          <a:prstGeom prst="rect">
            <a:avLst/>
          </a:prstGeom>
          <a:solidFill>
            <a:srgbClr val="1628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377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26280" y="3127248"/>
            <a:ext cx="1188720" cy="594360"/>
          </a:xfrm>
          <a:prstGeom prst="rect">
            <a:avLst/>
          </a:prstGeom>
          <a:solidFill>
            <a:srgbClr val="1A2A3F"/>
          </a:solidFill>
          <a:ln w="19050">
            <a:solidFill>
              <a:srgbClr val="7A9B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312724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admin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(Kotlin)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31920" y="37490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🔒 solo interno / port-forward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73952" y="3127248"/>
            <a:ext cx="0" cy="-457200"/>
          </a:xfrm>
          <a:prstGeom prst="line">
            <a:avLst/>
          </a:prstGeom>
          <a:noFill/>
          <a:ln w="12700">
            <a:solidFill>
              <a:srgbClr val="7A9BB5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5715000" y="3419856"/>
            <a:ext cx="640080" cy="0"/>
          </a:xfrm>
          <a:prstGeom prst="line">
            <a:avLst/>
          </a:prstGeom>
          <a:noFill/>
          <a:ln w="12700">
            <a:solidFill>
              <a:srgbClr val="7A9BB5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320040" y="3977640"/>
            <a:ext cx="850392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041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9900"/>
                </a:solidFill>
              </a:rPr>
              <a:t>Infraestructura base: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691640" y="40416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10.0.0.0/16    ·    2 subnets públicas (ALB)    ·    2 subnets privadas (EKS)    ·    NAT Gateway    ·    VPC Endpoints: DynamoDB · S3    ·    ECR · CloudWatch · Config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servicios, 3 responsabilidades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1207008"/>
            <a:ext cx="2743200" cy="2834640"/>
          </a:xfrm>
          <a:prstGeom prst="rect">
            <a:avLst/>
          </a:prstGeom>
          <a:solidFill>
            <a:srgbClr val="162840"/>
          </a:solidFill>
          <a:ln w="25400">
            <a:solidFill>
              <a:srgbClr val="4A9E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207008"/>
            <a:ext cx="2743200" cy="420624"/>
          </a:xfrm>
          <a:prstGeom prst="rect">
            <a:avLst/>
          </a:prstGeom>
          <a:solidFill>
            <a:srgbClr val="4A9EE0"/>
          </a:solidFill>
          <a:ln w="12700">
            <a:solidFill>
              <a:srgbClr val="4A9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252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orders-service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/ C#  ·  Port :8080  ·  ×2 réplicas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" y="2029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" y="2267712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/orders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/orders/{id}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834640"/>
            <a:ext cx="25603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· imagen Docker propia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246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Expuesto vía ALB · escribe en DynamoDB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45536" y="1207008"/>
            <a:ext cx="2743200" cy="2834640"/>
          </a:xfrm>
          <a:prstGeom prst="rect">
            <a:avLst/>
          </a:prstGeom>
          <a:solidFill>
            <a:srgbClr val="162840"/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45536" y="1207008"/>
            <a:ext cx="2743200" cy="42062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6976" y="12252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👨‍🍳  admin-service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36976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/ Spring Boot  ·  Port :8081  ·  ×2 réplicas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55264" y="2029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55264" y="2267712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/orders/{id}/status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36976" y="2834640"/>
            <a:ext cx="25603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36976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· imagen Docker propia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36976" y="3246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interno · port-forward en demo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98464" y="1207008"/>
            <a:ext cx="2743200" cy="2834640"/>
          </a:xfrm>
          <a:prstGeom prst="rect">
            <a:avLst/>
          </a:prstGeom>
          <a:solidFill>
            <a:srgbClr val="162840"/>
          </a:solidFill>
          <a:ln w="25400">
            <a:solidFill>
              <a:srgbClr val="00D4B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98464" y="1207008"/>
            <a:ext cx="2743200" cy="420624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9904" y="12252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notifications-svc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89904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Port :8082  ·  ×2 réplicas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08192" y="2029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08192" y="2267712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SQS queue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envío email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9904" y="2834640"/>
            <a:ext cx="25603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· imagen Docker propia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9904" y="3246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endpoint HTTP público · driven por eventos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servicio: imagen propia en ECR · Deployment independiente · Liveness &amp; Readiness probes · topologySpreadConstraints entre AZs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— lo que provisiona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+ Subnets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subnets, IGW, NAT, Routes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2344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0332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SG · EKS Nodes SG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2344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3796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table · Streams · PITR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24028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+ DLQ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6334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queue · redrive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224028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λ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70332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03320" y="26334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stream-processor · Python 3.12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224028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8076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3796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×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26334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admin · notif · frontend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2461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🪣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6868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× 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3639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website · Config recordings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54680" y="32461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46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70332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703320" y="3639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Groups · 3 Alarms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89320" y="32461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8076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53796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Config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37960" y="3639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Recorder · 4 compliance rules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3799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~35–40 recursos provisionados  ·  </a:t>
            </a:r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creado con eksctl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(limitación LabRole en Academy)  ·  </a:t>
            </a:r>
            <a:pPr indent="0" marL="0">
              <a:buNone/>
            </a:pPr>
            <a:r>
              <a:rPr lang="en-US" sz="115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en S3 backend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097280"/>
            <a:ext cx="5486400" cy="1828800"/>
          </a:xfrm>
          <a:prstGeom prst="rect">
            <a:avLst/>
          </a:prstGeom>
          <a:solidFill>
            <a:srgbClr val="0D1B2A"/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1143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🚀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828800" y="1783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28800" y="239572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Veamos el sistema en funcionamiento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417320" cy="804672"/>
          </a:xfrm>
          <a:prstGeom prst="rect">
            <a:avLst/>
          </a:prstGeom>
          <a:solidFill>
            <a:srgbClr val="0F2235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918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76272" y="3246120"/>
            <a:ext cx="1417320" cy="804672"/>
          </a:xfrm>
          <a:prstGeom prst="rect">
            <a:avLst/>
          </a:prstGeom>
          <a:solidFill>
            <a:srgbClr val="0F2235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32918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76272" y="362102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76272" y="38404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+ routing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03904" y="3246120"/>
            <a:ext cx="1417320" cy="804672"/>
          </a:xfrm>
          <a:prstGeom prst="rect">
            <a:avLst/>
          </a:prstGeom>
          <a:solidFill>
            <a:srgbClr val="0F2235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32918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03904" y="362102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03904" y="38404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servicios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31536" y="3246120"/>
            <a:ext cx="1417320" cy="804672"/>
          </a:xfrm>
          <a:prstGeom prst="rect">
            <a:avLst/>
          </a:prstGeom>
          <a:solidFill>
            <a:srgbClr val="0F2235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32918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31536" y="362102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31536" y="38404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059168" y="3246120"/>
            <a:ext cx="1417320" cy="804672"/>
          </a:xfrm>
          <a:prstGeom prst="rect">
            <a:avLst/>
          </a:prstGeom>
          <a:solidFill>
            <a:srgbClr val="0F2235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9168" y="32918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59168" y="362102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59168" y="38404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Self-healing: el sistema se repara solo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8503920" cy="987552"/>
          </a:xfrm>
          <a:prstGeom prst="rect">
            <a:avLst/>
          </a:prstGeom>
          <a:solidFill>
            <a:srgbClr val="162840"/>
          </a:solidFill>
          <a:ln w="19050">
            <a:solidFill>
              <a:srgbClr val="4A9E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54864" cy="987552"/>
          </a:xfrm>
          <a:prstGeom prst="rect">
            <a:avLst/>
          </a:prstGeom>
          <a:solidFill>
            <a:srgbClr val="4A9EE0"/>
          </a:solidFill>
          <a:ln w="12700">
            <a:solidFill>
              <a:srgbClr val="4A9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♻️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70432" y="135331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reconciliation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65506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control-plane mantiene el estado deseado continuamente. 2 réplicas → si cae 1, crea otra.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8503920" cy="987552"/>
          </a:xfrm>
          <a:prstGeom prst="rect">
            <a:avLst/>
          </a:prstGeom>
          <a:solidFill>
            <a:srgbClr val="162840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377440"/>
            <a:ext cx="54864" cy="9875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87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📬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70432" y="24688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como buffer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77063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persisten hasta 14 días. Si notifications-svc cae, los mensajes esperan y se procesan al volver.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493008"/>
            <a:ext cx="8503920" cy="987552"/>
          </a:xfrm>
          <a:prstGeom prst="rect">
            <a:avLst/>
          </a:prstGeom>
          <a:solidFill>
            <a:srgbClr val="162840"/>
          </a:solidFill>
          <a:ln w="19050">
            <a:solidFill>
              <a:srgbClr val="00D4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493008"/>
            <a:ext cx="54864" cy="987552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02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170432" y="35844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38862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deploy: maxUnavailable=1, maxSurge=1. Sin downtime. Rollback en 1 comando.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0857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delete pod -l app=notifications-service    →    pods recreados automáticamente en ~10s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MISIÓN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capas (Defense in Depth)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8503920" cy="3794760"/>
        </p:xfrm>
        <a:graphic>
          <a:graphicData uri="http://schemas.openxmlformats.org/drawingml/2006/table">
            <a:tbl>
              <a:tblPr/>
              <a:tblGrid>
                <a:gridCol w="3566160"/>
                <a:gridCol w="4937760"/>
              </a:tblGrid>
              <a:tr h="2919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seguridad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runAsNonRoot · runAsUser: 1001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Pods corren sin privilegios root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readOnlyRootFilesystem: 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archivos inmutable en runtime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capabilities: drop 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capacidades Linux peligrosas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seccompProfile: RuntimeDefault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Syscalls filtradas por el kernel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Subnets privadas + NAT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Nodos sin IP pública — tráfico sólo por NAT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Groups restrictivos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ALB: 80/443 → nodos. Nodos: solo NodePort desde ALB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ECR scan_on_push: 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 automática de CVEs en cada imagen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ECR tags IMMUTABLE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tag publicado no se puede sobreescribir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DynamoDB 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Cifrado en reposo con llave AWS-managed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DynamoDB PITR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Restauración a cualquier segundo en 35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por namespace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developer-readonly: solo get/list/watch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ServiceAccounts separados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orders-sa · admin-sa · notifications-sa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PARA PRODUCCIÓN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vs. Producción Real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70432"/>
          <a:ext cx="8503920" cy="3657600"/>
        </p:xfrm>
        <a:graphic>
          <a:graphicData uri="http://schemas.openxmlformats.org/drawingml/2006/table">
            <a:tbl>
              <a:tblPr/>
              <a:tblGrid>
                <a:gridCol w="393192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☁️  AWS Academy (implementado)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🚀  Producción Real (plan)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LabRole compartido en todos los pods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D4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IRSA: cada SA tiene su propio IAM role de mínimo privilegio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Credenciales en ConfigMap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D4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Secrets Manager + CSI Driver (secret-provider-class.yaml listo)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Cifrado AES256 AWS-managed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D4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CMK con rotación automática cada 90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 solo HTTP puerto 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D4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+ certificado ACM + redirect 301 HTTP → HTTPS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 Endpoints DynamoDB/S3 únicamente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D4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SQS · Secrets Manager · ECR (tráfico nunca sale de la VPC)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Config habilitado manualmente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D4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habilitado en CI/CD desde el primer deploy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 bloqueado (Academy)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D4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 activo con sender verificado y templates de email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Config — 4 reglas activas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335024"/>
            <a:ext cx="384048" cy="384048"/>
          </a:xfrm>
          <a:prstGeom prst="rect">
            <a:avLst/>
          </a:prstGeom>
          <a:solidFill>
            <a:srgbClr val="4A9EE0"/>
          </a:solidFill>
          <a:ln w="12700">
            <a:solidFill>
              <a:srgbClr val="4A9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5256" y="13350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🔒  restricted-ssh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" y="17556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Security Group permite el puerto 22 abierto al mundo (0.0.0.0/0). Previene acceso SSH no autorizado.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207008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335024"/>
            <a:ext cx="384048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02936" y="13350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📡  vpc-flow-logs-enabled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45736" y="17556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los Flow Logs estén activos en la VPC. Permite auditar todo el tráfico de red.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" y="2980944"/>
            <a:ext cx="384048" cy="384048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" y="29809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🔐  encrypted-volumes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" y="34015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volúmenes EBS de los nodos EKS deben estar cifrados en reposo.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852928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2980944"/>
            <a:ext cx="384048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02936" y="29809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🗄️  dynamodb-encryption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45736" y="34015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DynamoDB debe tener SSE activado. Garantiza cifrado de datos de pedidos.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645152"/>
            <a:ext cx="85039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regla se viola → AWS Config lo registra y puede disparar una remediación automática vía Systems Manager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 ENCONTRADOS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problemas reales · 5 soluciones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43584"/>
            <a:ext cx="8503920" cy="65836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EKS Auto Mode seleccionó instancias ARM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07408" y="13807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289304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Desactivar Auto Mode → usar 'Configure manually' con instancias x86_64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8503920" cy="65836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t3.small: capacidad insuficiente (11 pods máx)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07408" y="2148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2057400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Migrar a t3.medium → 17 pods por nodo, headroom para monitoreo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779776"/>
            <a:ext cx="8503920" cy="65836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254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IMDS hop limit=1: pods no obtenían credenciales AWS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07408" y="29169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2825496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modify-instance-metadata-options --http-put-response-hop-limit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547872"/>
            <a:ext cx="8503920" cy="65836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935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LBC CrashLoopBackOff: faltaba región y VPC ID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07408" y="3685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54880" y="3593592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Agregar --set region=us-east-1 --set vpcId=vpc-xxx al helm install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616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SES bloqueado en AWS Academy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07408" y="4453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0" y="4361688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USE_SES=false · notificaciones simuladas localmente en demo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reproducible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destroy + terraform apply = mismo sistema en minutos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810512"/>
            <a:ext cx="1115568" cy="9144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865376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34086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99616" y="1810512"/>
            <a:ext cx="1115568" cy="9144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9616" y="1865376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499616" y="234086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activos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24912" y="1810512"/>
            <a:ext cx="1115568" cy="9144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865376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24912" y="234086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internet-facing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50208" y="1810512"/>
            <a:ext cx="1115568" cy="9144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0208" y="1865376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950208" y="234086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DynamoDB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75504" y="1810512"/>
            <a:ext cx="1115568" cy="9144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5504" y="1865376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175504" y="234086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SQS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1810512"/>
            <a:ext cx="1115568" cy="9144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865376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00800" y="234086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stream-proc.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26096" y="1810512"/>
            <a:ext cx="1115568" cy="9144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6096" y="1865376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626096" y="234086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compliance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29077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(eksctl)  ·  Terraform  ·  DynamoDB  ·  SQS + Lambda  ·  ECR  ·  CloudWatch  ·  AWS Config  ·  Fluent Bit  ·  Prometheus + Grafana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371600" y="3310128"/>
            <a:ext cx="6400800" cy="548640"/>
          </a:xfrm>
          <a:prstGeom prst="rect">
            <a:avLst/>
          </a:prstGeom>
          <a:solidFill>
            <a:srgbClr val="162840"/>
          </a:solidFill>
          <a:ln w="19050">
            <a:solidFill>
              <a:srgbClr val="00D4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33101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📂  github.com/ssaturno/como-vapp-architecture-bootcamp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" y="41605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· Preguntas bienvenidas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Samaris Saturno · Bootcamp Arquitectura de Nube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Vapp en AWS — Arquitectura de Microservicios</dc:title>
  <dc:subject>PptxGenJS Presentation</dc:subject>
  <dc:creator>Samaris Saturno</dc:creator>
  <cp:lastModifiedBy>Samaris Saturno</cp:lastModifiedBy>
  <cp:revision>1</cp:revision>
  <dcterms:created xsi:type="dcterms:W3CDTF">2026-06-11T15:17:12Z</dcterms:created>
  <dcterms:modified xsi:type="dcterms:W3CDTF">2026-06-11T15:17:12Z</dcterms:modified>
</cp:coreProperties>
</file>